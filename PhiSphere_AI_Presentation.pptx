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PhiSphere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0C9B1"/>
                </a:solidFill>
                <a:latin typeface="Calibri"/>
              </a:defRPr>
            </a:pPr>
            <a:r>
              <a:t>Lab Notebook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An AI lab partner for experimental reasoning and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931920"/>
            <a:ext cx="2103120" cy="36576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Microsoft Innovation Challenge —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4055"/>
                </a:solidFill>
                <a:latin typeface="Calibri"/>
              </a:defRPr>
            </a:pPr>
            <a:r>
              <a:t>March 16–27,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371600" cy="45720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9601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Researchers spend hours manually reasoning over experimental data, protocols, and results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No unified tool for multimodal analysis — CSV data, lab images, PDF protocols are handled separately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Existing AI tools lack safety boundaries for sensitive domains (biology, clinical, chemical)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No transparency — AI suggestions come without explanation or audit trail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Data quality issues (missing values, small samples) go undetected, leading to flawed conclusions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•  No connection to public scientific datasets (OpenML, Kaggle) for benchmarking and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Our Solution: PhiSphere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2286000" cy="45720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An agentic lab notebook assistant that helps researchers reason over experiments,</a:t>
            </a:r>
            <a:br/>
            <a:r>
              <a:t>analyze multimodal data, and safely suggest next steps — powered by Azure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2560320" cy="237744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4864" cy="2377440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B1"/>
                </a:solidFill>
                <a:latin typeface="Calibri"/>
              </a:defRPr>
            </a:pPr>
            <a:r>
              <a:t>Structured AI 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Every response uses:</a:t>
            </a:r>
            <a:br/>
            <a:r>
              <a:t>Observation → Analysis →</a:t>
            </a:r>
            <a:br/>
            <a:r>
              <a:t>Suggested Next Steps →</a:t>
            </a:r>
            <a:br/>
            <a:r>
              <a:t>Why I Recommend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2468880"/>
            <a:ext cx="2560320" cy="237744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39" y="2468880"/>
            <a:ext cx="54864" cy="2377440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Multimodal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59" y="29260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CSV with auto-statistics &amp; charts</a:t>
            </a:r>
            <a:br/>
            <a:r>
              <a:t>Images with Azure Vision</a:t>
            </a:r>
            <a:br/>
            <a:r>
              <a:t>PDFs with Document Intelligence</a:t>
            </a:r>
            <a:br/>
            <a:r>
              <a:t>+ RAG indexing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468880"/>
            <a:ext cx="2560320" cy="237744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59" y="2468880"/>
            <a:ext cx="54864" cy="23774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Safety-First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9260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All AI responses fully buffered</a:t>
            </a:r>
            <a:br/>
            <a:r>
              <a:t>server-side → Content Safety</a:t>
            </a:r>
            <a:br/>
            <a:r>
              <a:t>screening → then streamed</a:t>
            </a:r>
            <a:br/>
            <a:r>
              <a:t>to client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468880"/>
            <a:ext cx="2560320" cy="237744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98280" y="2468880"/>
            <a:ext cx="54864" cy="23774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606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Full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92608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Per-message safety metadata</a:t>
            </a:r>
            <a:br/>
            <a:r>
              <a:t>Groundedness scoring</a:t>
            </a:r>
            <a:br/>
            <a:r>
              <a:t>Confidence badges</a:t>
            </a:r>
            <a:br/>
            <a:r>
              <a:t>Complete audit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12 protocol templates  •  OpenML dataset import  •  Hypothesis generation  •  Draft paper export  •  Metrics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828800" cy="45720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286000" cy="146304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00C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B1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React 19 + Vite 7</a:t>
            </a:r>
            <a:br/>
            <a:r>
              <a:t>Tailwind CSS 4</a:t>
            </a:r>
            <a:br/>
            <a:r>
              <a:t>Recharts</a:t>
            </a:r>
            <a:br/>
            <a:r>
              <a:t>Framer Motion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828800"/>
            <a:ext cx="2286000" cy="146304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40" y="22402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Express 5 + Node 24</a:t>
            </a:r>
            <a:br/>
            <a:r>
              <a:t>PostgreSQL + Drizzle</a:t>
            </a:r>
            <a:br/>
            <a:r>
              <a:t>SSE Streaming</a:t>
            </a:r>
            <a:br/>
            <a:r>
              <a:t>Rate Limiting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3840480"/>
            <a:ext cx="2286000" cy="109728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3931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4206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PostgreSQL</a:t>
            </a:r>
            <a:br/>
            <a:r>
              <a:t>Drizzle ORM</a:t>
            </a:r>
            <a:br/>
            <a:r>
              <a:t>lab_sessions, messages,</a:t>
            </a:r>
            <a:br/>
            <a:r>
              <a:t>audit_events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508760"/>
            <a:ext cx="4846320" cy="4206240"/>
          </a:xfrm>
          <a:prstGeom prst="roundRect">
            <a:avLst/>
          </a:prstGeom>
          <a:solidFill>
            <a:srgbClr val="08101E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Calibri"/>
              </a:defRPr>
            </a:pPr>
            <a:r>
              <a:t>AZURE AI SERVICES (8)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011680"/>
            <a:ext cx="2103120" cy="73152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084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Azure 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gpt-4o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2011680"/>
            <a:ext cx="2103120" cy="73152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0848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Content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Pre-stream filter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2880360"/>
            <a:ext cx="2103120" cy="73152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953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AI 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Image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2880360"/>
            <a:ext cx="2103120" cy="73152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2953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Doc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PDF extraction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3749040"/>
            <a:ext cx="2103120" cy="73152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3822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AI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RAG grounding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3749040"/>
            <a:ext cx="2103120" cy="73152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0" y="3822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AI Language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Entity extraction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4617720"/>
            <a:ext cx="2103120" cy="73152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4690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 Insights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Telemetry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72600" y="4617720"/>
            <a:ext cx="2103120" cy="73152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4690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Azure 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Experiment tracking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840480"/>
            <a:ext cx="2286000" cy="109728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3931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8CF8"/>
                </a:solidFill>
                <a:latin typeface="Calibri"/>
              </a:defRPr>
            </a:pPr>
            <a:r>
              <a:t>EXTERNAL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206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OpenML API (live import)</a:t>
            </a:r>
            <a:br/>
            <a:r>
              <a:t>Kaggle Sensor Datasets</a:t>
            </a:r>
            <a:br/>
            <a:r>
              <a:t>Sample datasets (built-in)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Monorepo: pnpm workspaces  •  TypeScript 5.9  •  OpenAPI 3.1 + Orval codegen  •  Zod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AI Pipeline — Safety-First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2743200" cy="45720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737360" cy="201168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00C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40B16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B1"/>
                </a:solidFill>
                <a:latin typeface="Calibri"/>
              </a:defRPr>
            </a:pPr>
            <a:r>
              <a:t>User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Researcher sends question</a:t>
            </a:r>
            <a:br/>
            <a:r>
              <a:t>with session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645920"/>
            <a:ext cx="1737360" cy="201168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17520" y="1783080"/>
            <a:ext cx="457200" cy="4572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40B16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31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0A5FA"/>
                </a:solidFill>
                <a:latin typeface="Calibri"/>
              </a:defRPr>
            </a:pPr>
            <a:r>
              <a:t>RAG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6974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Azure AI Search retrieves</a:t>
            </a:r>
            <a:br/>
            <a:r>
              <a:t>top-3 document chunks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1737360" cy="201168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7760" y="1783080"/>
            <a:ext cx="457200" cy="457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40B16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31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18CF8"/>
                </a:solidFill>
                <a:latin typeface="Calibri"/>
              </a:defRPr>
            </a:pPr>
            <a:r>
              <a:t>Entity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974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Azure Language extracts</a:t>
            </a:r>
            <a:br/>
            <a:r>
              <a:t>scientific entities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1737360" cy="201168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40B16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331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LLM Reasoning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6974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Azure OpenAI generates</a:t>
            </a:r>
            <a:br/>
            <a:r>
              <a:t>structured response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45920"/>
            <a:ext cx="1737360" cy="201168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0" y="178308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40B16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331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Safety Buffer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6974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Full response buffered</a:t>
            </a:r>
            <a:br/>
            <a:r>
              <a:t>→ Content Safety check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1645920"/>
            <a:ext cx="1737360" cy="201168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98480" y="17830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40B16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331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Stream to 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69748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SSE stream with RAG chips,</a:t>
            </a:r>
            <a:br/>
            <a:r>
              <a:t>entity pills, RAI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KEY: All AI responses are fully buffered server-side before Content Safety runs. Only after safety passes does the response stream to the client.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754880"/>
            <a:ext cx="3383280" cy="137160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4754880"/>
            <a:ext cx="54864" cy="1371600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B1"/>
                </a:solidFill>
                <a:latin typeface="Calibri"/>
              </a:defRPr>
            </a:pPr>
            <a:r>
              <a:t>Groundedness Scoring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2120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Azure AI evaluates whether responses</a:t>
            </a:r>
            <a:br/>
            <a:r>
              <a:t>are grounded in provided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4754880"/>
            <a:ext cx="3383280" cy="137160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89120" y="4754880"/>
            <a:ext cx="54864" cy="1371600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Confidence Badges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2120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Per-message High / Medium / Low</a:t>
            </a:r>
            <a:br/>
            <a:r>
              <a:t>confidence visible to researchers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754880"/>
            <a:ext cx="3383280" cy="137160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46720" y="4754880"/>
            <a:ext cx="54864" cy="1371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892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2120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Every safety event recorded with</a:t>
            </a:r>
            <a:br/>
            <a:r>
              <a:t>timestamps and category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Azure Services — Breadth &amp; Depth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2286000" cy="45720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52144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011680"/>
                <a:gridCol w="2286000"/>
                <a:gridCol w="68580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C9B1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C9B1"/>
                          </a:solidFill>
                          <a:latin typeface="Calibri"/>
                        </a:defRPr>
                      </a:pPr>
                      <a:r>
                        <a:t>Azure Service</a:t>
                      </a:r>
                    </a:p>
                  </a:txBody>
                  <a:tcPr anchor="ctr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C9B1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C9B1"/>
                          </a:solidFill>
                          <a:latin typeface="Calibri"/>
                        </a:defRPr>
                      </a:pPr>
                      <a:r>
                        <a:t>How It's Used</a:t>
                      </a:r>
                    </a:p>
                  </a:txBody>
                  <a:tcPr anchor="ctr">
                    <a:solidFill>
                      <a:srgbClr val="0A12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Azure OpenAI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GPT-4o chat completions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Structured scientific reasoning with domain safety rules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AI Content Safety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Pre-stream safety screening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Full response buffer → analyze → pass/flag/block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AI Vision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Image analysis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Captions, OCR, object detection for lab photos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Document Intelligence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PDF extraction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Prebuilt-layout model → text chunks for RAG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AI Search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RAG grounding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Auto-create index, top-3 chunk retrieval with citations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AI Language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Entity recognition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Scientific terms, chemicals, genes at ≥70% confidence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Application Insights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Telemetry &amp; monitoring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Custom events: SessionCreated, SafetyFlagTriggered, etc.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Azure ML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Experiment tracking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MLflow logging, dataset registration, model metrics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Live health checks for all services via /api/azure/status  •  Status panel shows active count badge (e.g. 7/8)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Innovation Highlights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828800" cy="45720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66160" cy="201168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" cy="2011680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B1"/>
                </a:solidFill>
                <a:latin typeface="Calibri"/>
              </a:defRPr>
            </a:pPr>
            <a:r>
              <a:t>OpenML Live 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Search and import any public dataset by ID</a:t>
            </a:r>
            <a:br/>
            <a:r>
              <a:t>directly from OpenML into a lab session.</a:t>
            </a:r>
            <a:br/>
            <a:r>
              <a:t>ARFF → CSV auto-conversion included.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566160" cy="201168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54864" cy="2011680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Structured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Every AI response follows:</a:t>
            </a:r>
            <a:br/>
            <a:r>
              <a:t>Observation → Analysis → Next Steps</a:t>
            </a:r>
            <a:br/>
            <a:r>
              <a:t>→ Why I Recommend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566160" cy="201168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54864" cy="2011680"/>
          </a:xfrm>
          <a:prstGeom prst="round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12 Protocol 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PCR, Western Blot, ELISA, Gel Electro-</a:t>
            </a:r>
            <a:br/>
            <a:r>
              <a:t>phoresis, Cell Culture, Titration,</a:t>
            </a:r>
            <a:br/>
            <a:r>
              <a:t>Spectrophotometry, DNA Extraction...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3566160" cy="201168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54864" cy="20116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Hypothesis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AI generates testable hypotheses with</a:t>
            </a:r>
            <a:br/>
            <a:r>
              <a:t>confidence levels (high/medium/low)</a:t>
            </a:r>
            <a:br/>
            <a:r>
              <a:t>and reasoning chains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840480"/>
            <a:ext cx="3566160" cy="201168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43400" y="3840480"/>
            <a:ext cx="54864" cy="2011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Draft Paper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297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One-click research paper draft:</a:t>
            </a:r>
            <a:br/>
            <a:r>
              <a:t>Abstract, Materials &amp; Methods,</a:t>
            </a:r>
            <a:br/>
            <a:r>
              <a:t>full paper outline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840480"/>
            <a:ext cx="3566160" cy="201168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3840480"/>
            <a:ext cx="54864" cy="20116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977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Platform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2976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Real-time KPIs: safety pass rate,</a:t>
            </a:r>
            <a:br/>
            <a:r>
              <a:t>groundedness scores, RAG usage,</a:t>
            </a:r>
            <a:br/>
            <a:r>
              <a:t>Azure service health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Responsible AI — Safety at Every Layer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2743200" cy="457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66160" cy="210312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" cy="21031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Safety-First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AI responses fully buffered server-side.</a:t>
            </a:r>
            <a:br/>
            <a:r>
              <a:t>Azure Content Safety screens complete text</a:t>
            </a:r>
            <a:br/>
            <a:r>
              <a:t>before any content reaches the client.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566160" cy="210312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54864" cy="21031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Domain Safety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Hard-coded system prompt boundaries:</a:t>
            </a:r>
            <a:br/>
            <a:r>
              <a:t>• No pathogen synthesis routes</a:t>
            </a:r>
            <a:br/>
            <a:r>
              <a:t>• No clinical dosing advice</a:t>
            </a:r>
            <a:br/>
            <a:r>
              <a:t>• No explosive synthesis</a:t>
            </a:r>
            <a:br/>
            <a:r>
              <a:t>• Mandatory BSL/IRB flags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566160" cy="210312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54864" cy="21031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Data Quality Warnings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Automatic detection of:</a:t>
            </a:r>
            <a:br/>
            <a:r>
              <a:t>• Small sample sizes (&lt;30 rows)</a:t>
            </a:r>
            <a:br/>
            <a:r>
              <a:t>• Missing values</a:t>
            </a:r>
            <a:br/>
            <a:r>
              <a:t>• Zero-variance columns</a:t>
            </a:r>
            <a:br/>
            <a:r>
              <a:t>• Low numeric column 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566160" cy="210312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4864" cy="2103120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B1"/>
                </a:solidFill>
                <a:latin typeface="Calibri"/>
              </a:defRPr>
            </a:pPr>
            <a:r>
              <a:t>Groundedness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Azure AI evaluates whether responses</a:t>
            </a:r>
            <a:br/>
            <a:r>
              <a:t>are grounded in provided data vs.</a:t>
            </a:r>
            <a:br/>
            <a:r>
              <a:t>fabricated. Score stored per-message.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931920"/>
            <a:ext cx="3566160" cy="210312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43400" y="3931920"/>
            <a:ext cx="54864" cy="2103120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Complete Audit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89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Every safety event persisted with:</a:t>
            </a:r>
            <a:br/>
            <a:r>
              <a:t>• Timestamps &amp; severity categories</a:t>
            </a:r>
            <a:br/>
            <a:r>
              <a:t>• Session &amp; conversation context</a:t>
            </a:r>
            <a:br/>
            <a:r>
              <a:t>• Model deployment metadata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931920"/>
            <a:ext cx="3566160" cy="210312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3931920"/>
            <a:ext cx="54864" cy="21031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069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RAI Toolbox Notebooks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38912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Offline analysis using Microsoft's</a:t>
            </a:r>
            <a:br/>
            <a:r>
              <a:t>Responsible AI Toolbox for data balance,</a:t>
            </a:r>
            <a:br/>
            <a:r>
              <a:t>error analysis, and correlation checks.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Judging Criteria Alignment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2286000" cy="45720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228600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" cy="2286000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B1"/>
                </a:solidFill>
                <a:latin typeface="Calibri"/>
              </a:defRPr>
            </a:pPr>
            <a:r>
              <a:t>Performance (25%)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SSE streaming for sub-second first-token latency</a:t>
            </a:r>
            <a:br/>
            <a:r>
              <a:t>• Rate limiting (auth: 20/15min, AI: 20/min, general: 120/min)</a:t>
            </a:r>
            <a:br/>
            <a:r>
              <a:t>• Live health checks across all 8 Azure services</a:t>
            </a:r>
            <a:br/>
            <a:r>
              <a:t>• Metrics dashboard with real-time KPIs</a:t>
            </a:r>
            <a:br/>
            <a:r>
              <a:t>• esbuild for fast server bundling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228600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" cy="2286000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Innovation (25%)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Agentic reasoning pipeline (ingest → RAG → LLM → safety → audit)</a:t>
            </a:r>
            <a:br/>
            <a:r>
              <a:t>• OpenML live dataset import with ARFF conversion</a:t>
            </a:r>
            <a:br/>
            <a:r>
              <a:t>• Multimodal analysis: CSV + images + PDFs</a:t>
            </a:r>
            <a:br/>
            <a:r>
              <a:t>• 12 protocol templates with starter prompts</a:t>
            </a:r>
            <a:br/>
            <a:r>
              <a:t>• Hypothesis generation + draft paper export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94960" cy="228600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4864" cy="2286000"/>
          </a:xfrm>
          <a:prstGeom prst="round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Azure Breadth (25%)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8 Azure services integrated:</a:t>
            </a:r>
            <a:br/>
            <a:r>
              <a:t>  OpenAI, Content Safety, Vision, Document Intelligence,</a:t>
            </a:r>
            <a:br/>
            <a:r>
              <a:t>  AI Search, AI Language, App Insights, Azure ML</a:t>
            </a:r>
            <a:br/>
            <a:r>
              <a:t>• Each service used meaningfully, not superficially</a:t>
            </a:r>
            <a:br/>
            <a:r>
              <a:t>• Health monitoring for every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394960" cy="228600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4864" cy="2286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Responsible AI (25%)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891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Server-side safety buffer before streaming</a:t>
            </a:r>
            <a:br/>
            <a:r>
              <a:t>• Domain-specific safety rules (bio, clinical, chemical)</a:t>
            </a:r>
            <a:br/>
            <a:r>
              <a:t>• Groundedness scoring + confidence badges</a:t>
            </a:r>
            <a:br/>
            <a:r>
              <a:t>• Data quality warnings (RAI)</a:t>
            </a:r>
            <a:br/>
            <a:r>
              <a:t>• Audit log + RAI Toolbox notebooks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Demo Walkthrough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645920" cy="45720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408176"/>
            <a:ext cx="320040" cy="320040"/>
          </a:xfrm>
          <a:prstGeom prst="ellipse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40B16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Landing page → Sign up → Control Panel with Azure service status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828800"/>
            <a:ext cx="320040" cy="320040"/>
          </a:xfrm>
          <a:prstGeom prst="ellipse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40B16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9222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Create session: Biology domain + PCR Amplification template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249424"/>
            <a:ext cx="320040" cy="320040"/>
          </a:xfrm>
          <a:prstGeom prst="ellipse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40B16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128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Load sample CSV → auto-statistics + interactive charts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670048"/>
            <a:ext cx="320040" cy="320040"/>
          </a:xfrm>
          <a:prstGeom prst="ellipse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40B16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334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Ask AI: "What trends do you see in temperature vs. growth?"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090672"/>
            <a:ext cx="320040" cy="3200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40B16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5409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Show structured response: Observation / Analysis / Next Steps / Why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511296"/>
            <a:ext cx="320040" cy="3200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40B16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Import OpenML dataset #61 (Iris) → live external data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931920"/>
            <a:ext cx="320040" cy="3200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40B16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9534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Upload gel electrophoresis image → Azure Vision analysis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352544"/>
            <a:ext cx="320040" cy="3200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40B16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1596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Upload PDF protocol → RAG indexing + citation chips in chat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773168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40B16"/>
                </a:solidFill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365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Safety demo: borderline question → Content Safety blocks + audit log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193792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40B16"/>
                </a:solidFill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15721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Responsible AI panel: safety check, groundedness, reasoning trace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5614416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40B16"/>
                </a:solidFill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577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Platform metrics dashboard: safety pass rate, RAG usage, groundedness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603504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40B16"/>
                </a:solidFill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99846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Export session as markdown lab notebook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828800" cy="45720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114800"/>
                <a:gridCol w="594360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C9B1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 anchor="ctr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C9B1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0C9B1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0A12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React 19 + Vite 7 + Tailwind CSS 4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Framer Motion, Recharts, Lucide, Wouter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Express 5 + Node.js 24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SSE streaming, rate limiting, multer uploads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PostgreSQL + Drizzle ORM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lab_sessions, conversations, messages, audit_events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API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OpenAPI 3.1 + Orval + Zod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Type-safe codegen, React Query hooks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AI Engine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Azure OpenAI (gpt-4o)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Structured reasoning with domain safety rules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Safety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Azure AI Content Safety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Server-side buffer, 4-category analysis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Vision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Azure AI Vision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Captions, OCR, object detection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RAG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Azure AI Search + Doc Intelligence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PDF → chunks → index → retrieval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NLP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Azure AI Language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Named entity recognition (chemicals, genes)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Telemetry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Azure Application Insights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Custom events, exception tracking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MLOps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Azure ML + MLflow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Experiment tracking, dataset registration</a:t>
                      </a:r>
                    </a:p>
                  </a:txBody>
                  <a:tcPr anchor="ctr">
                    <a:solidFill>
                      <a:srgbClr val="0D182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Build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pnpm workspaces + esbuild + TypeScript 5.9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94A3B8"/>
                          </a:solidFill>
                          <a:latin typeface="Calibri"/>
                        </a:defRPr>
                      </a:pPr>
                      <a:r>
                        <a:t>Monorepo with shared packages</a:t>
                      </a:r>
                    </a:p>
                  </a:txBody>
                  <a:tcPr anchor="ctr">
                    <a:solidFill>
                      <a:srgbClr val="0B15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Learnings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1645920" cy="45720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219456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" cy="21945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Safety Must Be Architecture, Not Afterthought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Buffering all AI responses server-side before safety screening is essential.</a:t>
            </a:r>
            <a:br/>
            <a:r>
              <a:t>Streaming directly to the client makes it impossible to retract unsafe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219456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" cy="2194560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RAG Grounding Dramatically Improves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Injecting document chunks into the LLM context with citations produces</a:t>
            </a:r>
            <a:br/>
            <a:r>
              <a:t>far more accurate, trustworthy responses than prompt-only approaches.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94960" cy="219456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54864" cy="21945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Data Quality Warnings Prevent Bad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Automatically flagging small samples, missing values, and zero-variance</a:t>
            </a:r>
            <a:br/>
            <a:r>
              <a:t>columns prevents researchers from drawing flawed conclusions.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394960" cy="2194560"/>
          </a:xfrm>
          <a:prstGeom prst="roundRect">
            <a:avLst/>
          </a:prstGeom>
          <a:solidFill>
            <a:srgbClr val="0D1829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4864" cy="21945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Azure Service Integration Requires Graceful Degradation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891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Each service can fail independently. The system must degrade gracefully</a:t>
            </a:r>
            <a:br/>
            <a:r>
              <a:t>with clear status indicators, not crash when one API key is missing.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9B1"/>
                </a:solidFill>
                <a:latin typeface="Calibri"/>
              </a:defRPr>
            </a:pPr>
            <a:r>
              <a:t>PhiSphere AI — Lab Notebook AI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3566160"/>
            <a:ext cx="2103120" cy="36576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GitHub:  github.com/your-repo/PhiSphere-AI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Live Demo:  phisphere-ai.replit.app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Microsoft Innovation Challenge —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Powered by Azure OpenAI • AI Vision • Content Safety • AI Search • Doc Intelligence • AI Language • App Insights • Azure 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00C9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